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0" r:id="rId3"/>
    <p:sldId id="261" r:id="rId4"/>
    <p:sldId id="257" r:id="rId5"/>
    <p:sldId id="262" r:id="rId6"/>
    <p:sldId id="263" r:id="rId7"/>
    <p:sldId id="264" r:id="rId8"/>
    <p:sldId id="265" r:id="rId9"/>
    <p:sldId id="266" r:id="rId10"/>
    <p:sldId id="26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58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22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02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13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13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74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72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35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1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052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8675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503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827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853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782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237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BCF859B-1BFA-49A6-983C-88667E05CCE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77757-061E-487D-B4FE-4B312195B5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029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92433AA-D081-ACCC-1394-7D7BAFB47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20313"/>
            <a:ext cx="10945216" cy="2502877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учебной практике </a:t>
            </a:r>
            <a:b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ПМ.02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C0CDC-ACB4-3218-125C-F3DB192F869A}"/>
              </a:ext>
            </a:extLst>
          </p:cNvPr>
          <p:cNvSpPr txBox="1"/>
          <p:nvPr/>
        </p:nvSpPr>
        <p:spPr>
          <a:xfrm>
            <a:off x="1828800" y="179348"/>
            <a:ext cx="8803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бюджетное учреждение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8A810-85DC-2B3F-FC05-7908BC271A1A}"/>
              </a:ext>
            </a:extLst>
          </p:cNvPr>
          <p:cNvSpPr txBox="1"/>
          <p:nvPr/>
        </p:nvSpPr>
        <p:spPr>
          <a:xfrm>
            <a:off x="4729821" y="630932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68515F4-E5F4-22CF-1740-697292ACE547}"/>
              </a:ext>
            </a:extLst>
          </p:cNvPr>
          <p:cNvSpPr/>
          <p:nvPr/>
        </p:nvSpPr>
        <p:spPr>
          <a:xfrm>
            <a:off x="7512606" y="3786106"/>
            <a:ext cx="4679394" cy="22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Выполнил</a:t>
            </a:r>
            <a:r>
              <a:rPr lang="en-US" sz="16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Замятин Алексей Романович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Группа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23П-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пециальность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09.02.07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«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Информационные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системы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и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программирование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Форма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обучения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очная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Руководитель</a:t>
            </a:r>
            <a:r>
              <a:rPr lang="en-US" sz="16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Седов Алексей Сергеевич</a:t>
            </a:r>
            <a:endParaRPr lang="en-US" sz="1600" dirty="0"/>
          </a:p>
        </p:txBody>
      </p:sp>
      <p:pic>
        <p:nvPicPr>
          <p:cNvPr id="9" name="Picture 14" descr="touch-icon-ipad-retina">
            <a:extLst>
              <a:ext uri="{FF2B5EF4-FFF2-40B4-BE49-F238E27FC236}">
                <a16:creationId xmlns:a16="http://schemas.microsoft.com/office/drawing/2014/main" id="{E794BB0A-21F6-EB21-F491-F8655B874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25" y="71150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676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5EC845F-4921-FD7A-8103-4924A61715E5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/>
              <a:t>Цели</a:t>
            </a:r>
            <a:r>
              <a:rPr lang="ru-RU" dirty="0"/>
              <a:t> </a:t>
            </a:r>
            <a:r>
              <a:rPr lang="ru-RU" b="1" dirty="0"/>
              <a:t>и</a:t>
            </a:r>
            <a:r>
              <a:rPr lang="ru-RU" dirty="0"/>
              <a:t> </a:t>
            </a:r>
            <a:r>
              <a:rPr lang="ru-RU" b="1" dirty="0"/>
              <a:t>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5ADC7-480C-31C6-6372-AC2C15B18500}"/>
              </a:ext>
            </a:extLst>
          </p:cNvPr>
          <p:cNvSpPr txBox="1"/>
          <p:nvPr/>
        </p:nvSpPr>
        <p:spPr>
          <a:xfrm>
            <a:off x="677334" y="1561068"/>
            <a:ext cx="7963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Цель:</a:t>
            </a:r>
          </a:p>
          <a:p>
            <a:r>
              <a:rPr lang="ru-RU" dirty="0"/>
              <a:t>Разработка комплексной системы управления производством "</a:t>
            </a:r>
            <a:r>
              <a:rPr lang="ru-RU" dirty="0" err="1"/>
              <a:t>АгроСинтез</a:t>
            </a:r>
            <a:r>
              <a:rPr lang="ru-RU" dirty="0"/>
              <a:t>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49A24-84B4-1587-0618-896CAA5152FB}"/>
              </a:ext>
            </a:extLst>
          </p:cNvPr>
          <p:cNvSpPr txBox="1"/>
          <p:nvPr/>
        </p:nvSpPr>
        <p:spPr>
          <a:xfrm>
            <a:off x="677334" y="3169692"/>
            <a:ext cx="6818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Задачи:</a:t>
            </a:r>
          </a:p>
          <a:p>
            <a:pPr marL="342900" indent="-342900">
              <a:buAutoNum type="arabicParenR"/>
            </a:pPr>
            <a:r>
              <a:rPr lang="ru-RU" dirty="0"/>
              <a:t>Разработать БД и подключить к </a:t>
            </a:r>
            <a:r>
              <a:rPr lang="en-US" dirty="0"/>
              <a:t>API</a:t>
            </a:r>
          </a:p>
          <a:p>
            <a:pPr marL="342900" indent="-342900">
              <a:buAutoNum type="arabicParenR"/>
            </a:pPr>
            <a:r>
              <a:rPr lang="ru-RU" dirty="0"/>
              <a:t>Разработать 3 модуля:</a:t>
            </a:r>
          </a:p>
          <a:p>
            <a:r>
              <a:rPr lang="ru-RU" dirty="0"/>
              <a:t>      - Модуль технолога;</a:t>
            </a:r>
          </a:p>
          <a:p>
            <a:r>
              <a:rPr lang="ru-RU" dirty="0"/>
              <a:t>      - Модуль лаборатории;</a:t>
            </a:r>
          </a:p>
          <a:p>
            <a:r>
              <a:rPr lang="ru-RU" dirty="0"/>
              <a:t>      - Модуль аппаратчика.</a:t>
            </a:r>
          </a:p>
          <a:p>
            <a:r>
              <a:rPr lang="ru-RU" dirty="0"/>
              <a:t>3) Осуществить интеграцию модулей с помощью </a:t>
            </a:r>
            <a:r>
              <a:rPr lang="en-US" dirty="0"/>
              <a:t>git</a:t>
            </a:r>
          </a:p>
          <a:p>
            <a:r>
              <a:rPr lang="en-US" dirty="0"/>
              <a:t>4)</a:t>
            </a:r>
            <a:r>
              <a:rPr lang="ru-RU" dirty="0"/>
              <a:t> Провести тестирование программных модулей.</a:t>
            </a:r>
          </a:p>
        </p:txBody>
      </p:sp>
    </p:spTree>
    <p:extLst>
      <p:ext uri="{BB962C8B-B14F-4D97-AF65-F5344CB8AC3E}">
        <p14:creationId xmlns:p14="http://schemas.microsoft.com/office/powerpoint/2010/main" val="1203615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C7075-7150-9F37-AA34-68AA508F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Анализ предметной области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0CC3D-E0DF-D7A1-4C28-69E3A434FD73}"/>
              </a:ext>
            </a:extLst>
          </p:cNvPr>
          <p:cNvSpPr txBox="1"/>
          <p:nvPr/>
        </p:nvSpPr>
        <p:spPr>
          <a:xfrm>
            <a:off x="646111" y="1619211"/>
            <a:ext cx="7734873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Ведение рецептур,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заказов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Лаборант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Контроль качества сырья и продукции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Аппаратчик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Выполнение производственных партий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Управление пользователями, настройка системы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24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3DC796-7CA4-A008-C692-F9806462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26" y="723530"/>
            <a:ext cx="11239130" cy="6134470"/>
          </a:xfrm>
        </p:spPr>
        <p:txBody>
          <a:bodyPr>
            <a:normAutofit fontScale="90000"/>
          </a:bodyPr>
          <a:lstStyle/>
          <a:p>
            <a:pPr algn="l"/>
            <a:r>
              <a:rPr lang="ru-RU" sz="2000" b="1" dirty="0"/>
              <a:t>Результаты работы</a:t>
            </a:r>
            <a:br>
              <a:rPr lang="ru-RU" sz="2000" dirty="0"/>
            </a:br>
            <a:r>
              <a:rPr lang="ru-RU" sz="2000" dirty="0"/>
              <a:t>В ходе выполнения проекта разработана информационная система управления производством средств защиты растений, включающая:</a:t>
            </a:r>
            <a:br>
              <a:rPr lang="ru-RU" sz="2000" dirty="0"/>
            </a:br>
            <a:r>
              <a:rPr lang="ru-RU" sz="2000" b="1" dirty="0"/>
              <a:t>API сервер</a:t>
            </a:r>
            <a:r>
              <a:rPr lang="ru-RU" sz="2000" dirty="0"/>
              <a:t> с 30+ REST </a:t>
            </a:r>
            <a:r>
              <a:rPr lang="ru-RU" sz="2000" dirty="0" err="1"/>
              <a:t>эндпоинтами</a:t>
            </a:r>
            <a:br>
              <a:rPr lang="ru-RU" sz="2000" dirty="0"/>
            </a:br>
            <a:r>
              <a:rPr lang="ru-RU" sz="2000" b="1" dirty="0"/>
              <a:t>Модуль технолога</a:t>
            </a:r>
            <a:r>
              <a:rPr lang="ru-RU" sz="2000" dirty="0"/>
              <a:t> - 5000+ строк кода</a:t>
            </a:r>
            <a:br>
              <a:rPr lang="ru-RU" sz="2000" dirty="0"/>
            </a:br>
            <a:r>
              <a:rPr lang="ru-RU" sz="2000" b="1" dirty="0"/>
              <a:t>Модуль лаборатории</a:t>
            </a:r>
            <a:r>
              <a:rPr lang="ru-RU" sz="2000" dirty="0"/>
              <a:t> - 4500+ строк кода</a:t>
            </a:r>
            <a:br>
              <a:rPr lang="ru-RU" sz="2000" dirty="0"/>
            </a:br>
            <a:r>
              <a:rPr lang="ru-RU" sz="2000" b="1" dirty="0"/>
              <a:t>Модуль аппаратчика</a:t>
            </a:r>
            <a:r>
              <a:rPr lang="ru-RU" sz="2000" dirty="0"/>
              <a:t> - 4000+ строк кода</a:t>
            </a:r>
            <a:br>
              <a:rPr lang="ru-RU" sz="2000" dirty="0"/>
            </a:br>
            <a:r>
              <a:rPr lang="ru-RU" sz="2000" b="1" dirty="0"/>
              <a:t>База данных</a:t>
            </a:r>
            <a:r>
              <a:rPr lang="ru-RU" sz="2000" dirty="0"/>
              <a:t> - 20+ таблиц</a:t>
            </a:r>
            <a:br>
              <a:rPr lang="ru-RU" sz="2000" dirty="0"/>
            </a:br>
            <a:r>
              <a:rPr lang="ru-RU" sz="2000" b="1" dirty="0"/>
              <a:t>Экономическая эффективность</a:t>
            </a:r>
            <a:br>
              <a:rPr lang="ru-RU" sz="2000" dirty="0"/>
            </a:br>
            <a:r>
              <a:rPr lang="ru-RU" sz="2000" dirty="0"/>
              <a:t>Внедрение разработанной системы позволяет:</a:t>
            </a:r>
            <a:br>
              <a:rPr lang="ru-RU" sz="2000" dirty="0"/>
            </a:br>
            <a:r>
              <a:rPr lang="ru-RU" sz="2000" b="1" dirty="0"/>
              <a:t>Сократить время</a:t>
            </a:r>
            <a:r>
              <a:rPr lang="ru-RU" sz="2000" dirty="0"/>
              <a:t> на оформление документации на 60%</a:t>
            </a:r>
            <a:br>
              <a:rPr lang="ru-RU" sz="2000" dirty="0"/>
            </a:br>
            <a:r>
              <a:rPr lang="ru-RU" sz="2000" b="1" dirty="0"/>
              <a:t>Уменьшить количество ошибок</a:t>
            </a:r>
            <a:r>
              <a:rPr lang="ru-RU" sz="2000" dirty="0"/>
              <a:t> при передаче данных на 80%</a:t>
            </a:r>
            <a:br>
              <a:rPr lang="ru-RU" sz="2000" dirty="0"/>
            </a:br>
            <a:r>
              <a:rPr lang="ru-RU" sz="2000" b="1" dirty="0"/>
              <a:t>Снизить время реакции</a:t>
            </a:r>
            <a:r>
              <a:rPr lang="ru-RU" sz="2000" dirty="0"/>
              <a:t> на отклонения на 70%</a:t>
            </a:r>
            <a:br>
              <a:rPr lang="ru-RU" sz="2000" dirty="0"/>
            </a:br>
            <a:r>
              <a:rPr lang="ru-RU" sz="2000" b="1" dirty="0"/>
              <a:t>Улучшить прослеживаемость</a:t>
            </a:r>
            <a:r>
              <a:rPr lang="ru-RU" sz="2000" dirty="0"/>
              <a:t> партий на 100%</a:t>
            </a:r>
            <a:br>
              <a:rPr lang="ru-RU" sz="2000" dirty="0"/>
            </a:br>
            <a:r>
              <a:rPr lang="ru-RU" sz="2000" b="1" dirty="0"/>
              <a:t>Сократить время формирования</a:t>
            </a:r>
            <a:r>
              <a:rPr lang="ru-RU" sz="2000" dirty="0"/>
              <a:t> отчетов на 75%</a:t>
            </a:r>
            <a:br>
              <a:rPr lang="ru-RU" sz="2000" dirty="0"/>
            </a:br>
            <a:r>
              <a:rPr lang="ru-RU" sz="2000" b="1" dirty="0"/>
              <a:t>Направления дальнейшего развития</a:t>
            </a:r>
            <a:br>
              <a:rPr lang="ru-RU" sz="2000" dirty="0"/>
            </a:br>
            <a:r>
              <a:rPr lang="ru-RU" sz="2000" dirty="0"/>
              <a:t>Интеграция с весовым и измерительным оборудованием</a:t>
            </a:r>
            <a:br>
              <a:rPr lang="ru-RU" sz="2000" dirty="0"/>
            </a:br>
            <a:r>
              <a:rPr lang="ru-RU" sz="2000" dirty="0"/>
              <a:t>Разработка мобильного приложения для аппаратчиков</a:t>
            </a:r>
            <a:br>
              <a:rPr lang="ru-RU" sz="2000" dirty="0"/>
            </a:br>
            <a:r>
              <a:rPr lang="ru-RU" sz="2000" dirty="0"/>
              <a:t>Внедрение машинного обучения для прогнозирования отклонений</a:t>
            </a:r>
            <a:br>
              <a:rPr lang="ru-RU" sz="2000" dirty="0"/>
            </a:br>
            <a:r>
              <a:rPr lang="ru-RU" sz="2000" dirty="0"/>
              <a:t>Интеграция с ERP-системой предприятия</a:t>
            </a:r>
            <a:br>
              <a:rPr lang="ru-RU" sz="2000" dirty="0"/>
            </a:br>
            <a:r>
              <a:rPr lang="ru-RU" sz="2000" dirty="0"/>
              <a:t>Разработка веб-версии для удаленного доступа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348CF-A269-C766-626E-78D8BCEFE1D2}"/>
              </a:ext>
            </a:extLst>
          </p:cNvPr>
          <p:cNvSpPr txBox="1"/>
          <p:nvPr/>
        </p:nvSpPr>
        <p:spPr>
          <a:xfrm>
            <a:off x="4657447" y="200310"/>
            <a:ext cx="3096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ЗАКЛЮЧЕНИЕ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40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02C8A-575D-6FF5-4CE9-973381A6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База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59292C-BACA-A4BE-3A94-ABD4E675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408" y="1580046"/>
            <a:ext cx="6840220" cy="437261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2D1839-5A83-B4B0-D76B-437C96138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76" y="1580046"/>
            <a:ext cx="3229426" cy="437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0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9792B-D1A1-4127-F81D-C2F1D20D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API</a:t>
            </a:r>
            <a:endParaRPr lang="ru-RU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7E3659-742A-6352-ADBA-F6EF6D420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890" y="721613"/>
            <a:ext cx="6840220" cy="59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4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8EAD6-8FE2-893F-7885-4CB6207E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технолог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473649-2938-B867-B1D1-5579F486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694" y="2650053"/>
            <a:ext cx="6840220" cy="384746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DF7FBB-4F94-D63B-7071-825C56B1F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86" y="1493464"/>
            <a:ext cx="3450988" cy="314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2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C5B63-8EA6-E745-2E6E-FAB91F00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лаборатории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5B139F-72DE-2A06-3888-B73BCA1C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531" y="2428277"/>
            <a:ext cx="6840220" cy="39770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C2EAF8-22BF-936E-4E87-20EA229E6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405927"/>
            <a:ext cx="3192250" cy="309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0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BD6D6-2B8C-06A0-CD24-E92536E0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аппаратчик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0C215C-B86A-22ED-9E60-FCF91B97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940" y="2714662"/>
            <a:ext cx="6840220" cy="36906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C5D297-1476-FAAC-C593-8760D9EF9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10" y="1553592"/>
            <a:ext cx="3866534" cy="352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4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B13C0-C83A-B8D4-AA26-04E25D17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Разработка тестовых наборов и сценарий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DAB759-BAAD-DB30-9B6B-DB53D240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692" y="3230677"/>
            <a:ext cx="2569676" cy="33778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19EF0C-7F36-C5D3-4C13-F2CBA4EC5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091" y="3230676"/>
            <a:ext cx="2396109" cy="337788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35C60F-179E-4675-642B-C1F64231A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585" y="3208749"/>
            <a:ext cx="2665384" cy="33888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27C451-3666-9AF1-5355-76810BA47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73" y="3208749"/>
            <a:ext cx="2678389" cy="34672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54D18C-DEEE-C472-C6E5-6BB39EC17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109" y="2000850"/>
            <a:ext cx="2991267" cy="10383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55866BA-F496-3E36-FD90-DB40959DD4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269"/>
          <a:stretch>
            <a:fillRect/>
          </a:stretch>
        </p:blipFill>
        <p:spPr bwMode="auto">
          <a:xfrm>
            <a:off x="8753047" y="1108668"/>
            <a:ext cx="1297787" cy="19758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6581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212B3-B704-D29E-4964-8D1D20D5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36" y="-15353"/>
            <a:ext cx="9404723" cy="1420427"/>
          </a:xfrm>
        </p:spPr>
        <p:txBody>
          <a:bodyPr/>
          <a:lstStyle/>
          <a:p>
            <a:br>
              <a:rPr lang="ru-RU" sz="3200" dirty="0"/>
            </a:br>
            <a:r>
              <a:rPr lang="en-US" sz="3200" b="1" dirty="0"/>
              <a:t>QR-Code git-repository</a:t>
            </a:r>
            <a:r>
              <a:rPr lang="ru-RU" sz="3200" b="1" dirty="0"/>
              <a:t>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C534E3-082D-9E2D-717C-B26FDDDE2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475" y="1720235"/>
            <a:ext cx="38290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2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20CE9-A5BC-257A-291B-E6C02B6C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932" y="2728735"/>
            <a:ext cx="7441447" cy="1400530"/>
          </a:xfrm>
        </p:spPr>
        <p:txBody>
          <a:bodyPr/>
          <a:lstStyle/>
          <a:p>
            <a:r>
              <a:rPr lang="en-US" dirty="0"/>
              <a:t>	</a:t>
            </a:r>
            <a:r>
              <a:rPr lang="ru-RU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45055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316</Words>
  <Application>Microsoft Office PowerPoint</Application>
  <PresentationFormat>Широкоэкранный</PresentationFormat>
  <Paragraphs>37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Century Gothic</vt:lpstr>
      <vt:lpstr>Noto Sans SC</vt:lpstr>
      <vt:lpstr>Times New Roman</vt:lpstr>
      <vt:lpstr>Wingdings 3</vt:lpstr>
      <vt:lpstr>Ион</vt:lpstr>
      <vt:lpstr>Отчет по учебной практике  ПМ.02 Осуществление интеграции программных модулей</vt:lpstr>
      <vt:lpstr>Презентация PowerPoint</vt:lpstr>
      <vt:lpstr>Анализ предметной области</vt:lpstr>
      <vt:lpstr>Результаты работы В ходе выполнения проекта разработана информационная система управления производством средств защиты растений, включающая: API сервер с 30+ REST эндпоинтами Модуль технолога - 5000+ строк кода Модуль лаборатории - 4500+ строк кода Модуль аппаратчика - 4000+ строк кода База данных - 20+ таблиц Экономическая эффективность Внедрение разработанной системы позволяет: Сократить время на оформление документации на 60% Уменьшить количество ошибок при передаче данных на 80% Снизить время реакции на отклонения на 70% Улучшить прослеживаемость партий на 100% Сократить время формирования отчетов на 75% Направления дальнейшего развития Интеграция с весовым и измерительным оборудованием Разработка мобильного приложения для аппаратчиков Внедрение машинного обучения для прогнозирования отклонений Интеграция с ERP-системой предприятия Разработка веб-версии для удаленного доступа</vt:lpstr>
      <vt:lpstr>База данных</vt:lpstr>
      <vt:lpstr>API</vt:lpstr>
      <vt:lpstr>Модуль технолог</vt:lpstr>
      <vt:lpstr>Модуль лаборатории</vt:lpstr>
      <vt:lpstr>Модуль аппаратчик</vt:lpstr>
      <vt:lpstr>Разработка тестовых наборов и сценарий </vt:lpstr>
      <vt:lpstr> QR-Code git-repository:</vt:lpstr>
      <vt:lpstr> 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Kab19-05</dc:creator>
  <cp:lastModifiedBy>Kab19-05</cp:lastModifiedBy>
  <cp:revision>3</cp:revision>
  <dcterms:created xsi:type="dcterms:W3CDTF">2026-05-19T06:24:23Z</dcterms:created>
  <dcterms:modified xsi:type="dcterms:W3CDTF">2026-05-19T07:10:04Z</dcterms:modified>
</cp:coreProperties>
</file>